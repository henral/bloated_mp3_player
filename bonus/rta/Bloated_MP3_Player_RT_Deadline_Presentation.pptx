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read: hp(i)=higher-priority tasks on same core, ceil(R/T)=how many jobs interfere. For experts: keep in notes, not 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90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8A9BB8"/>
                </a:solidFill>
                <a:latin typeface="Calibri"/>
              </a:defRPr>
            </a:pPr>
            <a:r>
              <a:t>UNIMORE  ·  REAL-TIME EMBEDDED SYSTEMS  ·  A.Y. 2025/2026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DON'T PANIC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6E8F0"/>
                </a:solidFill>
                <a:latin typeface="Calibri"/>
              </a:defRPr>
            </a:pPr>
            <a:r>
              <a:t>Bloated MP3 Player — Deadline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060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0D8"/>
                </a:solidFill>
                <a:latin typeface="Calibri"/>
              </a:defRPr>
            </a:pPr>
            <a:r>
              <a:t>Firmware-defined periods &amp; priorities · Per-core analysis — no placeholders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39"/>
            <a:ext cx="4937760" cy="1143000"/>
          </a:xfrm>
          <a:prstGeom prst="rect">
            <a:avLst/>
          </a:prstGeom>
          <a:solidFill>
            <a:srgbClr val="14182E"/>
          </a:solidFill>
          <a:ln w="12700">
            <a:solidFill>
              <a:srgbClr val="2A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E6E8F0"/>
                </a:solidFill>
                <a:latin typeface="Calibri"/>
              </a:defRPr>
            </a:pPr>
            <a:r>
              <a:t>Henry Letellier  •  ESP32-S3 WROOM dual-core 240 MHz  •  FreeRTOS via Arduino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650" b="0" i="1">
                <a:solidFill>
                  <a:srgbClr val="8A9BB8"/>
                </a:solidFill>
                <a:latin typeface="Calibri"/>
              </a:defRPr>
            </a:pPr>
            <a:r>
              <a:t>Response Time Analysis (RTA) · Rate Monotonic (RM) · Priority Inheritance/Ceiling (PIP/PCP) · Processor Demand Criterion (PDC)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91440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14300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WHAT THIS DECK PROVES (PER-CORE)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46304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Core 0  U=0.58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463040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 tasks, bound 0.78 → RTA passes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1719072"/>
            <a:ext cx="3520440" cy="76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76479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Core 1  U=0.25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764792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4 tasks, bound 0.76 → RTA passes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020824"/>
            <a:ext cx="3520440" cy="76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206654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RTA Core0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06654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Input 2, Audio 13≤25, Sensor 16≤200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322576"/>
            <a:ext cx="3520440" cy="76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23682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Blocking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368296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I²C: PIP 6→ PCP 4 (1.5×)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2624328"/>
            <a:ext cx="3520440" cy="76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67004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Single-core?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670048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7 tasks U=0.83 → still RTA 94≤500 (slide 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2926080"/>
            <a:ext cx="3520440" cy="76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3429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1">
                <a:solidFill>
                  <a:srgbClr val="5A5A6A"/>
                </a:solidFill>
                <a:latin typeface="Calibri"/>
              </a:defRPr>
            </a:pPr>
            <a:r>
              <a:t>Dual-core partition: Core 0 handles audio, Core 1 handles UI &amp; displays.</a:t>
            </a:r>
            <a:br/>
            <a:r>
              <a:t>Analysis is per-core — the honest model for FreeRTOS on ESP32-S3.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977639"/>
            <a:ext cx="3566160" cy="127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40690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Turn the EC11 clicky pot to browse (press to select) —</a:t>
            </a:r>
            <a:br/>
            <a:r>
              <a:t>wave HC-SR04 to pause, double-wave to menu. All are deadlines.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5379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01 —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Bloated by design, real-time by necessity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ESP32-S3 dual-core · FreeRTOS · 9 concurrent tasks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806080" cy="525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5348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HARDWARE — THE BOM OF DOOMED PERIPHERALS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364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76364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GMG12864-06D 128×64 SPI ST7565R CS10 RST9 DC8 SCLK7 MOSI6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8432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 LCDs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8432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2004A 0x26 (500 ms) + 1602A 0x27 (400 ms) — I²C SDA2/SCL1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7700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227700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2× MAX98357A I²S BCLK16 WS47 DIN17/18 — Helix MP3 + PSRAM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6932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256932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AHT20+BMP280 (env 5000 ms poll) · MPU-9250 (IMU) · HC-SR04 14/13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6200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Input / 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86200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EC11 rotary A42 B15 SW12 · WS2812B 16×16 matrix pin 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15468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315468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microSD SDMMC 1-bit CLK39 CMD38 D040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44736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Compute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3447360"/>
            <a:ext cx="416016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0">
                <a:solidFill>
                  <a:srgbClr val="5A5A6A"/>
                </a:solidFill>
                <a:latin typeface="Calibri"/>
              </a:defRPr>
            </a:pPr>
            <a:r>
              <a:t>Freenove ESP32-S3 WROOM dual-core 240 MHz Arduino + FreeRTOS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794760"/>
            <a:ext cx="5348880" cy="86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31920"/>
            <a:ext cx="5348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TASK MAPPING — PERIODS, PRIORITIES &amp; CORES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224600"/>
            <a:ext cx="5348880" cy="255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224600"/>
            <a:ext cx="10969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224600"/>
            <a:ext cx="6397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 (ms)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22460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Prio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22460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224600"/>
            <a:ext cx="68544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224600"/>
            <a:ext cx="12340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Period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498920"/>
            <a:ext cx="534888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9892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49892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49892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449892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449892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16384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49892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25 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754880"/>
            <a:ext cx="534888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75488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475488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475488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475488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75488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16384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475488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10 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" y="5010840"/>
            <a:ext cx="534888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501084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501084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501084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0360" y="501084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9000" y="501084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01084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33 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" y="5266800"/>
            <a:ext cx="534888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26680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Matrix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526680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31720" y="526680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526680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0" y="526680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2048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26680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50 ms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" y="5523120"/>
            <a:ext cx="534888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552312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552312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31720" y="552312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552312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29000" y="552312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0" y="552312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200 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" y="5779080"/>
            <a:ext cx="534888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60" y="577908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91640" y="577908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31720" y="577908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80360" y="577908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29000" y="577908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0" y="577908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400 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4360" y="6035040"/>
            <a:ext cx="534888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6035040"/>
            <a:ext cx="10969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91640" y="6035040"/>
            <a:ext cx="6397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31720" y="603504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6035040"/>
            <a:ext cx="548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603504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4096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0" y="6035040"/>
            <a:ext cx="12340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2A2A3A"/>
                </a:solidFill>
                <a:latin typeface="Calibri"/>
              </a:defRPr>
            </a:pPr>
            <a:r>
              <a:t>500 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360" y="6272280"/>
            <a:ext cx="5348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1">
                <a:solidFill>
                  <a:srgbClr val="5A5A6A"/>
                </a:solidFill>
                <a:latin typeface="Calibri"/>
              </a:defRPr>
            </a:pPr>
            <a:r>
              <a:t>Worst-Case Execution Time (WCET) = measured worst-case. Values shown are conservative estimates.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1535040"/>
            <a:ext cx="5348880" cy="525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75120" y="1600200"/>
            <a:ext cx="4891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WHY PARTITION MATTERS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75120" y="1763640"/>
            <a:ext cx="4891680" cy="36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A1A2A"/>
                </a:solidFill>
                <a:latin typeface="Calibri"/>
              </a:defRPr>
            </a:pPr>
            <a:r>
              <a:t>Single-core with 7 tasks would be pessimistic — dual-core is the real deadline trick.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75120" y="2103120"/>
            <a:ext cx="4891680" cy="115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•  FreeRTOS tick 1 ms, preemptive. Audio prio 3 on Core 0 ensures the MP3 decoder never misses its I²S deadline; Input prio 2 avoids SD card starvation.</a:t>
            </a:r>
          </a:p>
          <a:p>
            <a:pPr>
              <a:spcAft>
                <a:spcPts val="3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•  Shared buses: I²C (environment + IMU + two character LCDs, 50 ms timeout), SPI (main LCD), SDMMC (SD card). Protected by a bus mutex.</a:t>
            </a:r>
          </a:p>
          <a:p>
            <a:pPr>
              <a:spcAft>
                <a:spcPts val="3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•  Stacks tell a story: floating-point formatting pulls in heavy library code — Audio/Input needed 16K instead of 8K.</a:t>
            </a:r>
          </a:p>
          <a:p>
            <a:pPr>
              <a:spcAft>
                <a:spcPts val="3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•  All tasks are periodic with implicit deadlines (D = T).</a:t>
            </a:r>
          </a:p>
          <a:p>
            <a:pPr>
              <a:spcAft>
                <a:spcPts val="3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•  Next: per-core analysis — the right model for a dual-core MCU.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675120" y="5257800"/>
            <a:ext cx="4891680" cy="86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75120" y="5394960"/>
            <a:ext cx="4891680" cy="31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 i="1">
                <a:solidFill>
                  <a:srgbClr val="5A5A6A"/>
                </a:solidFill>
                <a:latin typeface="Calibri"/>
              </a:defRPr>
            </a:pPr>
            <a:r>
              <a:t>* Takeaway: analyse Core 0 and Core 1 separately — the 7-task single-core view is only an illustration; firmware is partitioned.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02 — TASK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Task periods, WCET estimates and utilization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Implicit deadlines (D=T) · Liu &amp; Layland bound per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760360" cy="2697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5303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0 — AUDIO-CRITICAL (3 tasks, prio 3/2/1)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38600"/>
            <a:ext cx="5303160" cy="255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38600"/>
            <a:ext cx="10054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938600"/>
            <a:ext cx="6397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38600"/>
            <a:ext cx="6397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38600"/>
            <a:ext cx="5940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Prio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938600"/>
            <a:ext cx="776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938600"/>
            <a:ext cx="10512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Period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212920"/>
            <a:ext cx="530316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212920"/>
            <a:ext cx="10054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212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212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212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21292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212920"/>
            <a:ext cx="105120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10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2505600"/>
            <a:ext cx="5303160" cy="27396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505600"/>
            <a:ext cx="10054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50560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250560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25056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250560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0.360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505600"/>
            <a:ext cx="105120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25 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797920"/>
            <a:ext cx="530316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797920"/>
            <a:ext cx="10054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797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2797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797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279792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797920"/>
            <a:ext cx="105120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200 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3132360"/>
            <a:ext cx="5303160" cy="27396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32360"/>
            <a:ext cx="2925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FFFFFF"/>
                </a:solidFill>
                <a:latin typeface="Calibri"/>
              </a:defRPr>
            </a:pPr>
            <a:r>
              <a:t>  Core0 U = 0.575   Bound n=3: 0.780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313236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7BE8B0"/>
                </a:solidFill>
                <a:latin typeface="Calibri"/>
              </a:defRPr>
            </a:pPr>
            <a:r>
              <a:t>U &lt; bound 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470760"/>
            <a:ext cx="5303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1">
                <a:solidFill>
                  <a:srgbClr val="5A5A6A"/>
                </a:solidFill>
                <a:latin typeface="Calibri"/>
              </a:defRPr>
            </a:pPr>
            <a:r>
              <a:t>Rate Monotonic order: Input &gt; Audio &gt; Sensor (shortest period first).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1463040"/>
            <a:ext cx="5394600" cy="2697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160020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1 — UI &amp; DISPLAYS (4 tasks, all prio 1 = FIFO)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0" y="1938600"/>
            <a:ext cx="4937400" cy="255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1938600"/>
            <a:ext cx="8683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938600"/>
            <a:ext cx="5940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1938600"/>
            <a:ext cx="5940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1938600"/>
            <a:ext cx="6397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1938600"/>
            <a:ext cx="9597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Period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2212920"/>
            <a:ext cx="493740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221292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0" y="2212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40" y="2212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2212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0.182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2212920"/>
            <a:ext cx="9597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33 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2505600"/>
            <a:ext cx="493740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400" y="250560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Matrix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0" y="25056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25056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250560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0.040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2505600"/>
            <a:ext cx="9597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50 ms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0" y="2797920"/>
            <a:ext cx="493740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279792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0" y="2797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92440" y="27979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279792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0.013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0" y="2797920"/>
            <a:ext cx="9597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400 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29400" y="3090600"/>
            <a:ext cx="493740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09060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0" y="30906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92440" y="30906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309060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0.016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26880" y="3090600"/>
            <a:ext cx="9597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500 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29400" y="3456360"/>
            <a:ext cx="4937400" cy="27396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3456360"/>
            <a:ext cx="2834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FFFFFF"/>
                </a:solidFill>
                <a:latin typeface="Calibri"/>
              </a:defRPr>
            </a:pPr>
            <a:r>
              <a:t>  Core1 U = 0.251   Bound n=4: 0.757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64040" y="3456360"/>
            <a:ext cx="10512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7BE8B0"/>
                </a:solidFill>
                <a:latin typeface="Calibri"/>
              </a:defRPr>
            </a:pPr>
            <a:r>
              <a:t>U &lt; bound 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29400" y="3758760"/>
            <a:ext cx="49374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1">
                <a:solidFill>
                  <a:srgbClr val="5A5A6A"/>
                </a:solidFill>
                <a:latin typeface="Calibri"/>
              </a:defRPr>
            </a:pPr>
            <a:r>
              <a:t>All prio 1 → RM tie = FIFO. Still schedulable per bound.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4251960"/>
            <a:ext cx="11429640" cy="1874160"/>
          </a:xfrm>
          <a:prstGeom prst="rect">
            <a:avLst/>
          </a:prstGeom>
          <a:solidFill>
            <a:srgbClr val="F2F4F8"/>
          </a:solidFill>
          <a:ln w="12700">
            <a:solidFill>
              <a:srgbClr val="D0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4389120"/>
            <a:ext cx="109724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Response Time Analysis (RTA) — EXACT TEST (REPLACES BOUND)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0" y="4663440"/>
            <a:ext cx="10972440" cy="272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A"/>
                </a:solidFill>
                <a:latin typeface="Cambria"/>
              </a:defRPr>
            </a:pPr>
            <a:r>
              <a:t>Rᵢ⁰ = Cᵢ          Rᵢᵏ⁺¹ = Cᵢ + Σ(h∈hp(i)) ⌈Rᵢᵏ / Tₕ⌉ · Cₕ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4360" y="5029200"/>
            <a:ext cx="1097244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>
                <a:solidFill>
                  <a:srgbClr val="5A5A6A"/>
                </a:solidFill>
                <a:latin typeface="Calibri"/>
              </a:defRPr>
            </a:pPr>
            <a:r>
              <a:t>The Liu &amp; Layland bound is only sufficient. Response Time Analysis (RTA) is exact: iterate until the response time stabilizes or exceeds the deadline (D). Next slide runs the iteration per core.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03 — PER-CORE 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Both cores pass — RM is optimal per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Core 0: Input &gt; Audio &gt; Sensor  ·  Core 1: UI &gt; Matrix &gt; Vogon &gt; CharLCD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840120" cy="251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63480"/>
            <a:ext cx="33829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0 RTA — 3 ITERATIONS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160"/>
            <a:ext cx="3382920" cy="2372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47160"/>
            <a:ext cx="776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4716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84716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847160"/>
            <a:ext cx="5940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21480"/>
            <a:ext cx="338292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214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121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121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1214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12148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1: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414160"/>
            <a:ext cx="338292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4141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414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414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4141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41416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2706480"/>
            <a:ext cx="338292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7064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06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706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27064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70648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40920"/>
            <a:ext cx="3382920" cy="37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>
                <a:solidFill>
                  <a:srgbClr val="5A5A6A"/>
                </a:solidFill>
                <a:latin typeface="Calibri"/>
              </a:defRPr>
            </a:pPr>
            <a:r>
              <a:t>Audio: R0=9 → 9+ceil(9/10)·2=11 → 9+ceil(11/10)·2=13 stable ≤25. Sensor: 3+ceil(3/10)·2+ceil(3/25)·9=14 → 16 stable ≤200.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Core0 slack: Audio 12 ms, Sensor 184 ms. Partition pays: only 2 interferers 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1463040"/>
            <a:ext cx="3840120" cy="251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1563480"/>
            <a:ext cx="33829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1 RTA — 4 TASKS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1847160"/>
            <a:ext cx="3382920" cy="2372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1847160"/>
            <a:ext cx="776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184716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1847160"/>
            <a:ext cx="5482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1847160"/>
            <a:ext cx="5940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✓?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121480"/>
            <a:ext cx="338292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21214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2121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2121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21214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212148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2414160"/>
            <a:ext cx="338292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63440" y="24141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Matrix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2414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2414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24141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241416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63440" y="2706480"/>
            <a:ext cx="3382920" cy="273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27064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2706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270648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27064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270648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2999160"/>
            <a:ext cx="3382920" cy="2739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63440" y="29991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0680" y="2999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89320" y="2999160"/>
            <a:ext cx="5482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37960" y="29991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2999160"/>
            <a:ext cx="914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3328920"/>
            <a:ext cx="3382920" cy="37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>
                <a:solidFill>
                  <a:srgbClr val="5A5A6A"/>
                </a:solidFill>
                <a:latin typeface="Calibri"/>
              </a:defRPr>
            </a:pPr>
            <a:r>
              <a:t>UI: R=6. Matrix: 2+ceil(2/33)·6=8. Vogon: 5+6+2=13. CharLCD: 8+6+2+5=21. All &lt;&lt; deadlines.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Core1 worst slack CharLCD 479 ms — HD44780 is slow but period is 500 ms, so it fits.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794760"/>
            <a:ext cx="11429640" cy="2834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931920"/>
            <a:ext cx="109724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GANTTS — PER-CORE RM (window scaled to ms)</a:t>
            </a:r>
          </a:p>
        </p:txBody>
      </p:sp>
      <p:pic>
        <p:nvPicPr>
          <p:cNvPr id="66" name="Picture 65" descr="gantt_core0_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60520"/>
            <a:ext cx="5486040" cy="1051200"/>
          </a:xfrm>
          <a:prstGeom prst="rect">
            <a:avLst/>
          </a:prstGeom>
        </p:spPr>
      </p:pic>
      <p:pic>
        <p:nvPicPr>
          <p:cNvPr id="67" name="Picture 66" descr="gantt_core1_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4800" y="4103280"/>
            <a:ext cx="5486040" cy="10512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594360" y="5257800"/>
            <a:ext cx="5486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1">
                <a:solidFill>
                  <a:srgbClr val="5A5A6A"/>
                </a:solidFill>
                <a:latin typeface="Calibri"/>
              </a:defRPr>
            </a:pPr>
            <a:r>
              <a:t>Core0 idle 42% — Audio never starves, Input preempts but short. Sensor fits in gaps.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5257800"/>
            <a:ext cx="54860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1">
                <a:solidFill>
                  <a:srgbClr val="109B5E"/>
                </a:solidFill>
                <a:latin typeface="Calibri"/>
              </a:defRPr>
            </a:pPr>
            <a:r>
              <a:t>Core1 idle 75% — UI dominates, others sparse. Partition is why bloated still meets deadlines.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04 — WOULD EDF HELP? &amp; WHAT IF NON-PREEMPTIVE?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On each core RM already passes — EDF is not needed, but shows the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FreeRTOS is fixed-prio preemptive; EDF is the optimal uniprocessor bound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7497720" cy="44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70405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0 GANTT COMPARISON — RM vs EDF (same T/C, window [0,100) ms)</a:t>
            </a:r>
          </a:p>
        </p:txBody>
      </p:sp>
      <p:pic>
        <p:nvPicPr>
          <p:cNvPr id="8" name="Picture 7" descr="gantt_core0_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00200"/>
            <a:ext cx="7040520" cy="1051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670120"/>
            <a:ext cx="70405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↑ RM preemptive: Fixed Input&gt;Audio&gt;Sensor — Audio R=13, Sensor 16.  CS ~11</a:t>
            </a:r>
          </a:p>
        </p:txBody>
      </p:sp>
      <p:pic>
        <p:nvPicPr>
          <p:cNvPr id="10" name="Picture 9" descr="gantt_core0_e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80360"/>
            <a:ext cx="7040520" cy="1051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3950280"/>
            <a:ext cx="704052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600" b="0" i="0">
                <a:solidFill>
                  <a:srgbClr val="109B5E"/>
                </a:solidFill>
                <a:latin typeface="Calibri"/>
              </a:defRPr>
            </a:pPr>
            <a:r>
              <a:t>↑ EDF preemptive: deadline-driven — same tasks, fewer preemptions, same meets. Not needed per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4160520"/>
            <a:ext cx="7040520" cy="5025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69490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E63E33"/>
                </a:solidFill>
                <a:latin typeface="Calibri"/>
              </a:defRPr>
            </a:pPr>
            <a:r>
              <a:t>Non-preemptive would hurt: Audio (9 ms) blocking Input (10 ms period) → Input R=11 &gt;10 miss. FreeRTOS preemptive is essential.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463040"/>
            <a:ext cx="3702960" cy="443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00200"/>
            <a:ext cx="32457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NUMBERS — CORE 0 AT A GLANCE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871640"/>
            <a:ext cx="3245760" cy="255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71640"/>
            <a:ext cx="12340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1871640"/>
            <a:ext cx="5025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871640"/>
            <a:ext cx="731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Meets?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1871640"/>
            <a:ext cx="68544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Use?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212920"/>
            <a:ext cx="3245760" cy="292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21292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RM pre.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21292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~11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2212920"/>
            <a:ext cx="731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109B5E"/>
                </a:solidFill>
                <a:latin typeface="Calibri"/>
              </a:defRPr>
            </a:pPr>
            <a:r>
              <a:t>✓ 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221292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we use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523600"/>
            <a:ext cx="3245760" cy="292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52360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A1A2A"/>
                </a:solidFill>
                <a:latin typeface="Calibri"/>
              </a:defRPr>
            </a:pPr>
            <a:r>
              <a:t>EDF pre.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52360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~9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523600"/>
            <a:ext cx="731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109B5E"/>
                </a:solidFill>
                <a:latin typeface="Calibri"/>
              </a:defRPr>
            </a:pPr>
            <a:r>
              <a:t>✓ 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252360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optimal*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2834640"/>
            <a:ext cx="3245760" cy="2923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34640"/>
            <a:ext cx="14626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A1A2A"/>
                </a:solidFill>
                <a:latin typeface="Calibri"/>
              </a:defRPr>
            </a:pPr>
            <a:r>
              <a:t>NP-EDF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283464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~6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834640"/>
            <a:ext cx="731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E63E33"/>
                </a:solidFill>
                <a:latin typeface="Calibri"/>
              </a:defRPr>
            </a:pPr>
            <a:r>
              <a:t>✗ 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2834640"/>
            <a:ext cx="68544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151800"/>
            <a:ext cx="3245760" cy="88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5A5A6A"/>
                </a:solidFill>
                <a:latin typeface="Calibri"/>
              </a:defRPr>
            </a:pPr>
            <a:r>
              <a:t>EDF optimality* (Baruah): if any schedule meets all D≤T on uniprocessor, EDF does. Per core we don't need it — RM already sufficient and matches FreeRTOS prio scheme (Audio 3 &gt; Input 2).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Why not NP? HC-SR04 echo can block 38 ms (Ultrasonic::is_pressed). Non-preemptive would wreck Input 10 ms deadline. Preemptive wins.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Firmware choice: Audio core0 prio3 = manual EDF intuition (shortest slack first). No code change needed to pass RTA.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806440"/>
            <a:ext cx="11429640" cy="685440"/>
          </a:xfrm>
          <a:prstGeom prst="rect">
            <a:avLst/>
          </a:prstGeom>
          <a:solidFill>
            <a:srgbClr val="F2F4F8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943600"/>
            <a:ext cx="10972440" cy="21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1A1A2A"/>
                </a:solidFill>
                <a:latin typeface="Calibri"/>
              </a:defRPr>
            </a:pPr>
            <a:r>
              <a:t>Bottom line: partitioned fixed-prio is sufficient. EDF is the theoretical safety net — we keep RM because FreeRTOS is RM.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05 — SHARED RESOURCE: THE I²C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One bus, four users — SDA2/SCL1 — PIP vs PCP with firmware-relevant 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Wire.setTimeout(50 ms) bounds it. Measured CS ≈ 1–4 ms (32-byte @100 kHz ≈ 2.5 ms)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600" cy="2605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RESOURCE USAGE — I²C BUS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64280"/>
            <a:ext cx="4937400" cy="2372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8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66428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Uses I²C?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6428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CS 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664280"/>
            <a:ext cx="59400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664280"/>
            <a:ext cx="59400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64280"/>
            <a:ext cx="5025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Prio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167200"/>
            <a:ext cx="493740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16720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167200"/>
            <a:ext cx="776880" cy="272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AHT20/BMP280 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216720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A1A2A"/>
                </a:solidFill>
                <a:latin typeface="Calibri"/>
              </a:defRPr>
            </a:pPr>
            <a:r>
              <a:t>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1672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1672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16720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2423160"/>
            <a:ext cx="493740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4231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42316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MPU-9250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24231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A1A2A"/>
                </a:solidFill>
                <a:latin typeface="Calibri"/>
              </a:defRPr>
            </a:pPr>
            <a:r>
              <a:t>2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4231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4231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242316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679120"/>
            <a:ext cx="493740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67912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267912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2004A 20×4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267912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E63E33"/>
                </a:solidFill>
                <a:latin typeface="Calibri"/>
              </a:defRPr>
            </a:pPr>
            <a:r>
              <a:t>4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26791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267912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67912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2935080"/>
            <a:ext cx="493740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29350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293508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1602A 16×2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293508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A1A2A"/>
                </a:solidFill>
                <a:latin typeface="Calibri"/>
              </a:defRPr>
            </a:pPr>
            <a:r>
              <a:t>2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29350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293508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293508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3191400"/>
            <a:ext cx="493740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19140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Matrix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19140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WS2812B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319140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31914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19140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319140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3447360"/>
            <a:ext cx="493740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4473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0" y="3447360"/>
            <a:ext cx="7768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I²S/SDMMC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8840" y="3447360"/>
            <a:ext cx="776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26080" y="34473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20440" y="3447360"/>
            <a:ext cx="5940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3447360"/>
            <a:ext cx="5025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3709080"/>
            <a:ext cx="49374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1">
                <a:solidFill>
                  <a:srgbClr val="5A5A6A"/>
                </a:solidFill>
                <a:latin typeface="Calibri"/>
              </a:defRPr>
            </a:pPr>
            <a:r>
              <a:t>Matrix &amp; Audio do NOT use I²C — no blocking there. SDMMC is separate resource (FATFS).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3977640"/>
            <a:ext cx="5394600" cy="223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11480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BLOCKING ON I²C — SINGLE RESOURCE, 4 USERS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" y="4343400"/>
            <a:ext cx="4937400" cy="2372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" y="4343400"/>
            <a:ext cx="91404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8760" y="4343400"/>
            <a:ext cx="8683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B_PIP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343400"/>
            <a:ext cx="86832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B_PCP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46120" y="4343400"/>
            <a:ext cx="14169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Saving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617720"/>
            <a:ext cx="4937400" cy="255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" y="461772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461772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E63E3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7440" y="461772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46120" y="4617720"/>
            <a:ext cx="14169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1.5×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" y="4892040"/>
            <a:ext cx="4937400" cy="2556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89204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8760" y="489204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E63E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77440" y="489204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46120" y="4892040"/>
            <a:ext cx="14169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no lower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4360" y="5166360"/>
            <a:ext cx="4937400" cy="255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516636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8760" y="516636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E63E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77440" y="516636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46120" y="5166360"/>
            <a:ext cx="14169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no lower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4360" y="5440680"/>
            <a:ext cx="4937400" cy="2556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544068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08760" y="544068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E63E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77440" y="5440680"/>
            <a:ext cx="8683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46120" y="5440680"/>
            <a:ext cx="14169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no lower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" y="5806440"/>
            <a:ext cx="4937400" cy="28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Priority Inheritance (PIP): sum over lower users. Priority Ceiling (PCP): max. One lock → PCP = max. +50 ms timeout bounds worst-case.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89320" y="1463040"/>
            <a:ext cx="5806080" cy="480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17920" y="1600200"/>
            <a:ext cx="534888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WHY THIS MATTERS — INVERSION ON THE WIRE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1871640"/>
            <a:ext cx="5348880" cy="141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750">
                <a:solidFill>
                  <a:srgbClr val="333344"/>
                </a:solidFill>
                <a:latin typeface="Calibri"/>
              </a:defRPr>
            </a:pPr>
            <a:r>
              <a:t>Without protocol: CharLCD (500 ms, low) locks I²C for 4 ms, UI (33 ms, high but same prio) spins → unbounded inversion across cores via i2c_bus_lock.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50" b="0" i="0">
                <a:solidFill>
                  <a:srgbClr val="333344"/>
                </a:solidFill>
                <a:latin typeface="Calibri"/>
              </a:defRPr>
            </a:pPr>
            <a:r>
              <a:t>•  PIP: holder inherits UI's prio → briefly prio 1→1 (no effect when all prio 1, but cross-core Input prio2 on core0 could still be delayed 6 ms).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50" b="0" i="0">
                <a:solidFill>
                  <a:srgbClr val="333344"/>
                </a:solidFill>
                <a:latin typeface="Calibri"/>
              </a:defRPr>
            </a:pPr>
            <a:r>
              <a:t>•  PCP: ceiling = max prio that uses I²C = 2 (Input) actually, but on core1 all 1 → ceiling 1. At most one block: PCP 4 vs PIP 6.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50" b="0" i="0">
                <a:solidFill>
                  <a:srgbClr val="333344"/>
                </a:solidFill>
                <a:latin typeface="Calibri"/>
              </a:defRPr>
            </a:pPr>
            <a:r>
              <a:t>•  Firmware fix already in code: xSemaphoreTake(i2c_bus_lock, portMAX_DELAY) but Wire.setTimeout(50 ms) + distinct core partitions = timeout-bounded. No unbounded chain.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50" b="0" i="0">
                <a:solidFill>
                  <a:srgbClr val="333344"/>
                </a:solidFill>
                <a:latin typeface="Calibri"/>
              </a:defRPr>
            </a:pPr>
            <a:r>
              <a:t>•  RTA with blocking: R_UI = C(6)+B_PCP(4)+ interference = 10 ≤33 still OK. Blocking is not the culprit — partitioning is.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17920" y="4892040"/>
            <a:ext cx="5348880" cy="86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0" y="5029200"/>
            <a:ext cx="5348880" cy="31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>
                <a:solidFill>
                  <a:srgbClr val="1A1A2A"/>
                </a:solidFill>
                <a:latin typeface="Calibri"/>
              </a:defRPr>
            </a:pPr>
            <a:r>
              <a:t>With blocking, response time becomes R = C + B + Σ ceil(R/T)·C.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For the UI task: R = 6 + 4 + interference = 10 ≤ 33 — still schedulable.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520" cy="18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240"/>
            <a:ext cx="114296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06 — PDC &amp; COMPLEXITY +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29640" cy="3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EDF demand test on firmware cores — and why offline analysis beats online hope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2964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Baruah et al. 1990 · H = lcm(T), L* = busy period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760360" cy="530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5303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CORE 0 PDC — EDF WOULD ALSO PASS (but we use 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64280"/>
            <a:ext cx="5303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Input 2/10  Audio 9/25  Sensor 3/200  — D=T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993320"/>
            <a:ext cx="5303160" cy="529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400"/>
            <a:ext cx="12798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U = Σ C/T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12920"/>
            <a:ext cx="1279800" cy="24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A1A2A"/>
                </a:solidFill>
                <a:latin typeface="Calibri"/>
              </a:defRPr>
            </a:pPr>
            <a:r>
              <a:t>0.575 ≤ 1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066400"/>
            <a:ext cx="169128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h(L)= Σ floor((L-D)/T+1)·C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12920"/>
            <a:ext cx="169128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078D4"/>
                </a:solidFill>
                <a:latin typeface="Calibri"/>
              </a:defRPr>
            </a:pPr>
            <a:r>
              <a:t>h(L) ≤ L ∀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066400"/>
            <a:ext cx="1645560" cy="181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 i="0">
                <a:solidFill>
                  <a:srgbClr val="5A5A6A"/>
                </a:solidFill>
                <a:latin typeface="Calibri"/>
              </a:defRPr>
            </a:pPr>
            <a:r>
              <a:t>H = lcm(10,25,200)=200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212920"/>
            <a:ext cx="1645560" cy="22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09B5E"/>
                </a:solidFill>
                <a:latin typeface="Calibri"/>
              </a:defRPr>
            </a:pPr>
            <a:r>
              <a:t>L* = 16 (5 iters)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558520"/>
            <a:ext cx="5303160" cy="30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Naïve PDC: check 20 deadline points to H=200. Busy period: only 5 points to L*=16 → 4× fewer. Pseudo-poly O(n·Dmax/Cmin).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154680"/>
            <a:ext cx="5303160" cy="255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154680"/>
            <a:ext cx="731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54680"/>
            <a:ext cx="8226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h(L)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154680"/>
            <a:ext cx="91404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L−h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154680"/>
            <a:ext cx="1919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✓?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429000"/>
            <a:ext cx="5303160" cy="23724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429000"/>
            <a:ext cx="731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429000"/>
            <a:ext cx="8226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42900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E63E33"/>
                </a:solidFill>
                <a:latin typeface="Calibri"/>
              </a:defRPr>
            </a:pPr>
            <a:r>
              <a:t>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3429000"/>
            <a:ext cx="1919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E63E33"/>
                </a:solidFill>
                <a:latin typeface="Calibri"/>
              </a:defRPr>
            </a:pPr>
            <a:r>
              <a:t>✗? 11&gt;10 → need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3684960"/>
            <a:ext cx="5303160" cy="23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684960"/>
            <a:ext cx="731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684960"/>
            <a:ext cx="8226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68496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09B5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684960"/>
            <a:ext cx="1919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3940920"/>
            <a:ext cx="530316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940920"/>
            <a:ext cx="731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3940920"/>
            <a:ext cx="8226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94092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09B5E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940920"/>
            <a:ext cx="1919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4197240"/>
            <a:ext cx="5303160" cy="23724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197240"/>
            <a:ext cx="73116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4197240"/>
            <a:ext cx="8226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5A5A6A"/>
                </a:solidFill>
                <a:latin typeface="Calibri"/>
              </a:defRPr>
            </a:pPr>
            <a:r>
              <a:t>~118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4197240"/>
            <a:ext cx="91404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109B5E"/>
                </a:solidFill>
                <a:latin typeface="Calibr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4197240"/>
            <a:ext cx="191988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480560"/>
            <a:ext cx="530316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1">
                <a:solidFill>
                  <a:srgbClr val="5A5A6A"/>
                </a:solidFill>
                <a:latin typeface="Calibri"/>
              </a:defRPr>
            </a:pPr>
            <a:r>
              <a:t>Note: h(10)=2 (only Input due). All points to L* pass → EDF schedulable.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4846320"/>
            <a:ext cx="5303160" cy="1462680"/>
          </a:xfrm>
          <a:prstGeom prst="rect">
            <a:avLst/>
          </a:prstGeom>
          <a:solidFill>
            <a:srgbClr val="F2F4F8"/>
          </a:solidFill>
          <a:ln w="12700">
            <a:solidFill>
              <a:srgbClr val="D0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98348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WHY PSEUDO-POLYNOMIAL MATTERS ON ESP32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212080"/>
            <a:ext cx="2331360" cy="30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>
                <a:solidFill>
                  <a:srgbClr val="E63E33"/>
                </a:solidFill>
                <a:latin typeface="Calibri"/>
              </a:defRPr>
            </a:pPr>
            <a:r>
              <a:t>Core 1: H = lcm(33,50,400,500) = 13200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330 deadline points naïve.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212080"/>
            <a:ext cx="2331360" cy="30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>
                <a:solidFill>
                  <a:srgbClr val="109B5E"/>
                </a:solidFill>
                <a:latin typeface="Calibri"/>
              </a:defRPr>
            </a:pPr>
            <a:r>
              <a:t>L* = 21 (4 iters)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5 points → 66× fewer.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897880"/>
            <a:ext cx="4937400" cy="18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Complexity analysis is done offline — at runtime, trust the per-core partitioning.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1463040"/>
            <a:ext cx="5394600" cy="530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160020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TAKEAWAYS — WHAT TO SAY ON 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1844280"/>
            <a:ext cx="493740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It's partitioned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0" y="204552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Two independent cores, not one with seven tasks. Analyse each core separately — that's why the design fits.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2423160"/>
            <a:ext cx="493740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Periods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262440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All tasks are periodic (10–500 ms) with implicit deadlines (D=T).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3182040"/>
            <a:ext cx="493740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WCET is measured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338328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Worst-case execution time comes from profiling — replace estimates with the measured maximum.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3940920"/>
            <a:ext cx="493740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Blocking bounded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414216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The I²C bus has a 50 ms timeout — priority inheritance keeps blocking at 4 ms, no unbounded inversion.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4700160"/>
            <a:ext cx="4937400" cy="204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 i="0">
                <a:solidFill>
                  <a:srgbClr val="1A1A2A"/>
                </a:solidFill>
                <a:latin typeface="Calibri"/>
              </a:defRPr>
            </a:pPr>
            <a:r>
              <a:t>Stacks are deadlines too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29400" y="490104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5A5A6A"/>
                </a:solidFill>
                <a:latin typeface="Calibri"/>
              </a:defRPr>
            </a:pPr>
            <a:r>
              <a:t>Audio and Input needed 16K stacks instead of 8K — a stack overflow is a deadline miss.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9400" y="6080760"/>
            <a:ext cx="493740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1">
                <a:solidFill>
                  <a:srgbClr val="0078D4"/>
                </a:solidFill>
                <a:latin typeface="Calibri"/>
              </a:defRPr>
            </a:pPr>
            <a:r>
              <a:t>So long, and thanks for all the fish.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537960"/>
            <a:ext cx="639720" cy="1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90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07 — WHAT IF WE IGNORED PINNING?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A1A2A"/>
                </a:solidFill>
                <a:latin typeface="Calibri"/>
              </a:defRPr>
            </a:pPr>
            <a:r>
              <a:t>7 tasks as one set — bound fails, RTA still passes but slack vanishes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A5A6A"/>
                </a:solidFill>
                <a:latin typeface="Calibri"/>
              </a:defRPr>
            </a:pPr>
            <a:r>
              <a:t>Single-core analysis vs partitioned — why partition helps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7607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SINGLE-CORE 7-TASK SET (all periods, same C_est)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92807"/>
            <a:ext cx="5303520" cy="23774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92807"/>
            <a:ext cx="77724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92807"/>
            <a:ext cx="50292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892807"/>
            <a:ext cx="45720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892807"/>
            <a:ext cx="54864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92807"/>
            <a:ext cx="54864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≤T?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92807"/>
            <a:ext cx="1554480" cy="18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 i="0">
                <a:solidFill>
                  <a:srgbClr val="FFFFFF"/>
                </a:solidFill>
                <a:latin typeface="Calibri"/>
              </a:defRPr>
            </a:pPr>
            <a:r>
              <a:t>Trace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167128"/>
            <a:ext cx="530352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16712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167128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16712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16712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16712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2423160"/>
            <a:ext cx="530352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42316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Audio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423160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242316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242316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242316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42316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9→11→13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679192"/>
            <a:ext cx="5303520" cy="237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679192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2679192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4519" y="2679192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2679192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679192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2679192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6→17→19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2935224"/>
            <a:ext cx="5303520" cy="23774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2935224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Matrix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2935224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2935224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2935224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2935224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29352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2→19→21→23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3191256"/>
            <a:ext cx="5303520" cy="23774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191256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Sensor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191256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200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74519" y="3191256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319125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0360" y="319125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9000" y="319125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3→22→26→35→43→45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3447288"/>
            <a:ext cx="5303520" cy="23774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447288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Vogon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0" y="3447288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74519" y="344728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344728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344728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29000" y="34472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5→27→40→48→50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3703320"/>
            <a:ext cx="5303520" cy="237744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3703320"/>
            <a:ext cx="777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A1A2A"/>
                </a:solidFill>
                <a:latin typeface="Calibri"/>
              </a:defRPr>
            </a:pPr>
            <a:r>
              <a:t>CharLCD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3703320"/>
            <a:ext cx="502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74519" y="3703320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0">
                <a:solidFill>
                  <a:srgbClr val="5A5A6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370332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94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3703320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09B5E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29000" y="370332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50" b="0" i="0">
                <a:solidFill>
                  <a:srgbClr val="5A5A6A"/>
                </a:solidFill>
                <a:latin typeface="Calibri"/>
              </a:defRPr>
            </a:pPr>
            <a:r>
              <a:t>8→35→56→71→81→92→94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3630168"/>
            <a:ext cx="530352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3675887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FFFFFF"/>
                </a:solidFill>
                <a:latin typeface="Calibri"/>
              </a:defRPr>
            </a:pPr>
            <a:r>
              <a:t>U = Σ C/T = 0.825   Bound n=7: 0.729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20440" y="3675887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 i="0">
                <a:solidFill>
                  <a:srgbClr val="FFFFFF"/>
                </a:solidFill>
                <a:latin typeface="Calibri"/>
              </a:defRPr>
            </a:pPr>
            <a:r>
              <a:t>U &gt; bound → inconclusive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04487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 i="0">
                <a:solidFill>
                  <a:srgbClr val="FFFFFF"/>
                </a:solidFill>
                <a:latin typeface="Calibri"/>
              </a:defRPr>
            </a:pPr>
            <a:r>
              <a:t>But RTA says schedulable (CharLCD 94 ≤500) — bound is pessimistic. Slack shrinks: CharLCD slack 406 vs per-core 479.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1463040"/>
            <a:ext cx="53949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29400" y="160020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WHY WE STILL PARTITION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9400" y="18470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1">
                <a:solidFill>
                  <a:srgbClr val="1A1A2A"/>
                </a:solidFill>
                <a:latin typeface="Calibri"/>
              </a:defRPr>
            </a:pPr>
            <a:r>
              <a:t>Even though 7-task RTA passes with these C_est, partitioning wins: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333344"/>
                </a:solidFill>
                <a:latin typeface="Calibri"/>
              </a:defRPr>
            </a:pPr>
            <a:r>
              <a:t>•  Slack: Core0 Audio keeps 12 ms, but Sensor 184→155 ms and CharLCD 479→406 ms — less interference per core means more headroom.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333344"/>
                </a:solidFill>
                <a:latin typeface="Calibri"/>
              </a:defRPr>
            </a:pPr>
            <a:r>
              <a:t>•  Isolation: Audio on Core 0 never contends with display bursts on Core 1. Single-core would interleave them.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333344"/>
                </a:solidFill>
                <a:latin typeface="Calibri"/>
              </a:defRPr>
            </a:pPr>
            <a:r>
              <a:t>•  Blocking: the shared I²C bus still needs priority inheritance (6→4 ms). Partitioning plus timeout bounds it.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700" b="0" i="0">
                <a:solidFill>
                  <a:srgbClr val="333344"/>
                </a:solidFill>
                <a:latin typeface="Calibri"/>
              </a:defRPr>
            </a:pPr>
            <a:r>
              <a:t>•  Method: analyse Core 0 and Core 1 as two independent systems — the single-core run is just a 'what-if' sanity check.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297680"/>
            <a:ext cx="114300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" y="443484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0078D4"/>
                </a:solidFill>
                <a:latin typeface="Calibri"/>
              </a:defRPr>
            </a:pPr>
            <a:r>
              <a:t>GANTT — ALL 7 AS SINGLE-CORE RM [0,200) ms (for talk track)</a:t>
            </a:r>
          </a:p>
        </p:txBody>
      </p:sp>
      <p:pic>
        <p:nvPicPr>
          <p:cNvPr id="73" name="Picture 72" descr="gantt_all7_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663440"/>
            <a:ext cx="10972800" cy="14173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9436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 i="1">
                <a:solidFill>
                  <a:srgbClr val="5A5A6A"/>
                </a:solidFill>
                <a:latin typeface="Calibri"/>
              </a:defRPr>
            </a:pPr>
            <a:r>
              <a:t>Dense: Input/Audio/UI dominate 0–50 ms. Sensor/Vogon/CharLCD starve until 90+ ms — per-core they ran at 16/13/21 ms. Partition benefit.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338560" y="65379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99999"/>
                </a:solidFill>
                <a:latin typeface="Calibri"/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Bloated MP3 Player — RTES (firmware-defined)</dc:title>
  <dc:subject/>
  <dc:creator>Henry Letellier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