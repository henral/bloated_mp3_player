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8A9BB8"/>
                </a:solidFill>
                <a:latin typeface="Calibri"/>
              </a:defRPr>
            </a:pPr>
            <a:r>
              <a:t>UNIMORE  ·  REAL-TIME EMBEDDED SYSTEMS  ·  A.Y. 2025/2026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DON'T PANIC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E6E8F0"/>
                </a:solidFill>
                <a:latin typeface="Calibri"/>
              </a:defRPr>
            </a:pPr>
            <a:r>
              <a:t>Bloated MP3 Player — Deadline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06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8C0D8"/>
                </a:solidFill>
                <a:latin typeface="Calibri"/>
              </a:defRPr>
            </a:pPr>
            <a:r>
              <a:t>From 9 concurrent peripherals on ESP32-S3 to provable scheduling guarantees.</a:t>
            </a:r>
            <a:br/>
            <a:r>
              <a:t>Rate-Monotonic · EDF · PIP / PCP · Processor Demand Criterion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49039"/>
            <a:ext cx="4754880" cy="1143000"/>
          </a:xfrm>
          <a:prstGeom prst="rect">
            <a:avLst/>
          </a:prstGeom>
          <a:solidFill>
            <a:srgbClr val="14182E"/>
          </a:solidFill>
          <a:ln w="12700">
            <a:solidFill>
              <a:srgbClr val="2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E8F0"/>
                </a:solidFill>
                <a:latin typeface="Calibri"/>
              </a:defRPr>
            </a:pPr>
            <a:r>
              <a:t>Henry Letellier  •  ESP32-S3 WROOM (dual-core 240 MHz)  •  FreeRTOS via Arduino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800" b="0" i="1">
                <a:solidFill>
                  <a:srgbClr val="8A9BB8"/>
                </a:solidFill>
                <a:latin typeface="Calibri"/>
              </a:defRPr>
            </a:pPr>
            <a:r>
              <a:t>7 slides  •  No firmware modified  •  Analysis from bonus/rta/*.py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00" b="0" i="0">
                <a:solidFill>
                  <a:srgbClr val="6A7A99"/>
                </a:solidFill>
                <a:latin typeface="Calibri"/>
              </a:defRPr>
            </a:pPr>
            <a:r>
              <a:t>bonus/rta/lenv  •  python-pptx + matplotlib  •  2026-09-01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914400"/>
            <a:ext cx="3749039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143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WHAT THIS DECK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463040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U &amp; 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4630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U=0.947 &gt; 0.757 → RTA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1719072"/>
            <a:ext cx="3154680" cy="76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76479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7647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b,c,d OK · a R=41 &gt; 40 fails 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2020824"/>
            <a:ext cx="3154680" cy="76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066544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EDF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0665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U=0.617 ≤ 1 and PDC passes (600 pts)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322576"/>
            <a:ext cx="3154680" cy="76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2368296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Blocking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3682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PCP halves B vs PIP (10→4, 10→6)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2624328"/>
            <a:ext cx="3154680" cy="76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670048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6700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Busy period L*=10: 600→1 point (600×)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926080"/>
            <a:ext cx="3154680" cy="76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5A5A6A"/>
                </a:solidFill>
                <a:latin typeface="Calibri"/>
              </a:defRPr>
            </a:pPr>
            <a:r>
              <a:t>The Hitchhiker's answer was 42.</a:t>
            </a:r>
            <a:br/>
            <a:r>
              <a:t>Our answer is 40: the period where RM breaks.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977639"/>
            <a:ext cx="3200400" cy="127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069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Tip: wave at the HC-SR04 to pause.</a:t>
            </a:r>
            <a:br/>
            <a:r>
              <a:t>Wave twice to bail out — just like deadline handling.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99999"/>
                </a:solidFill>
                <a:latin typeface="Calibri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01 —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A"/>
                </a:solidFill>
                <a:latin typeface="Calibri"/>
              </a:defRPr>
            </a:pPr>
            <a:r>
              <a:t>Bloated by design, real-time by necessity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A6A"/>
                </a:solidFill>
                <a:latin typeface="Calibri"/>
              </a:defRPr>
            </a:pPr>
            <a:r>
              <a:t>ESP32-S3 dual-core · FreeRTOS · 9 tasks · “17 sensors on one I²C bus”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8064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HARDWARE — THE BOM OF DOOMED PERIPHERALS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91640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GMG12864-06D 128×64 SPI (ST7565R)  CS10 RST9 DC8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Char LCDs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984248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2004A (0x27) folder/track + 1602A (0x26) Vogon poetry — I²C SDA2/SCL1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76856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76856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2× MAX98357A I²S  BCLK16 WS47 DIN17/18 — Helix MP3 + PSRAM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69463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569463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AHT20+BMP280 (env) · MPU-9250 (IMU) · HC-SR04 (TRIG14 ECHO13)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62071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Input / 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862071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EC11 rotary A42 B15 SW12  ·  WS2812B 16×16 matrix pin 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54679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154679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microSD SDMMC 1-bit  CLK39 CMD38 D0 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47287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447287"/>
            <a:ext cx="4160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Freenove ESP32-S3 WROOM  dual-core 240 MHz · Arduino + FreeRTOS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94760"/>
            <a:ext cx="5349240" cy="889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3192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FREERTOS MAPPING — CORE &amp; STACK REALITY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224528"/>
            <a:ext cx="534924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245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22452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Prio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22452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2245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22452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Note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498848"/>
            <a:ext cx="53492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49884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Audio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49884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49884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4988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16 384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49884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Helix + FATFS deep chain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773168"/>
            <a:ext cx="534924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773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77316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477316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7731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16 384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7731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SD open() overflow fix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047488"/>
            <a:ext cx="53492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0474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UI / LED / Matrix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0474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04748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0474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4–8K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504748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33 ms UI, I²C traffic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5321807"/>
            <a:ext cx="5349240" cy="2560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32180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Sensor / Serial / Vogon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5321807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23160" y="5321807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0/1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32180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4–8K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5321807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2A2A3A"/>
                </a:solidFill>
                <a:latin typeface="Calibri"/>
              </a:defRPr>
            </a:pPr>
            <a:r>
              <a:t>I²C 50 ms timeout, BLE GATTS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8338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5A5A6A"/>
                </a:solidFill>
                <a:latin typeface="Calibri"/>
              </a:defRPr>
            </a:pPr>
            <a:r>
              <a:t>Lesson: Audio on core 0 prio 3 isolates decode; everything else 1 — dual-core = interference domain partition.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1234440"/>
            <a:ext cx="53492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0" y="137160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WHY THIS NEEDS ANALYSIS — CONCURRENCY REALITY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169164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1A2A"/>
                </a:solidFill>
                <a:latin typeface="Calibri"/>
              </a:defRPr>
            </a:pPr>
            <a:r>
              <a:t>The joke: 17 peripherals arguing on one I²C bus.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2103120"/>
            <a:ext cx="4892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750">
                <a:solidFill>
                  <a:srgbClr val="333344"/>
                </a:solidFill>
                <a:latin typeface="Calibri"/>
              </a:defRPr>
            </a:pPr>
            <a:r>
              <a:t>•  FreeRTOS preemptive scheduler ticks every 1 ms — 9 tasks compete, priorities decide who preempts whom.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750">
                <a:solidFill>
                  <a:srgbClr val="333344"/>
                </a:solidFill>
                <a:latin typeface="Calibri"/>
              </a:defRPr>
            </a:pPr>
            <a:r>
              <a:t>•  Shared buses: I²C (AHT20/BMP280 + 2 char LCDs), SPI (LCD + font ROM), SDMMC (FATFS). All need bounded blocking.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750">
                <a:solidFill>
                  <a:srgbClr val="333344"/>
                </a:solidFill>
                <a:latin typeface="Calibri"/>
              </a:defRPr>
            </a:pPr>
            <a:r>
              <a:t>•  Stacks matter: printf(%a.1f) pulls _dtoa_r + malloc; Audio/Input blew 8K → 16K canary. Not in the model, but real.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750">
                <a:solidFill>
                  <a:srgbClr val="333344"/>
                </a:solidFill>
                <a:latin typeface="Calibri"/>
              </a:defRPr>
            </a:pPr>
            <a:r>
              <a:t>•  Audio cannot starve: double-buffered I²S with Helix fixed-point decode; Input (SD open) runs near-Audio depth — hence prio 2.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750">
                <a:solidFill>
                  <a:srgbClr val="333344"/>
                </a:solidFill>
                <a:latin typeface="Calibri"/>
              </a:defRPr>
            </a:pPr>
            <a:r>
              <a:t>•  Question for this deck: if we idealise 4 tasks, can RM guarantee deadlines? If not, does EDF? At what cost?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5074920"/>
            <a:ext cx="4892040" cy="889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52120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5A5A6A"/>
                </a:solidFill>
                <a:latin typeface="Calibri"/>
              </a:defRPr>
            </a:pPr>
            <a:r>
              <a:t>Takeaway: model 4 periodic tasks (b,c,d,a) to stress the method, then map back to the 9-task dual-core reality → slide 7.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99999"/>
                </a:solidFill>
                <a:latin typeface="Calibri"/>
              </a:defRPr>
            </a:pPr>
            <a: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02 — TASK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A"/>
                </a:solidFill>
                <a:latin typeface="Calibri"/>
              </a:defRPr>
            </a:pPr>
            <a:r>
              <a:t>From 9 threads to 4 canonical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A6A"/>
                </a:solidFill>
                <a:latin typeface="Calibri"/>
              </a:defRPr>
            </a:pPr>
            <a:r>
              <a:t>Enough to prove the point, small enough to compute by hand — then verify with bonus/rta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TASK SET — RM ORDER (shortest period = highest priority)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5303520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91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C (WCET)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691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T =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691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Prio (RM)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691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U = C/T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84248"/>
            <a:ext cx="5303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842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τ_b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9842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19842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198424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198424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0.250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295144"/>
            <a:ext cx="5303520" cy="2926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951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τ_c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2951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22951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22951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22951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0.300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606039"/>
            <a:ext cx="5303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606039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τ_d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26060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606039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2606039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2606039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0.222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916935"/>
            <a:ext cx="5303520" cy="2926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916935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A1A2A"/>
                </a:solidFill>
                <a:latin typeface="Calibri"/>
              </a:defRPr>
            </a:pPr>
            <a:r>
              <a:t>τ_a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2916935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2916935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2916935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2916935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5A5A6A"/>
                </a:solidFill>
                <a:latin typeface="Calibri"/>
              </a:defRPr>
            </a:pPr>
            <a:r>
              <a:t>0.175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273552"/>
            <a:ext cx="5303520" cy="292608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2735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  Total utilisation  U = Σ C/T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32735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0.947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36393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D = T for all tasks (implicit deadlines). Solver: bonus/rta/rta_solver.py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234440"/>
            <a:ext cx="53949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13716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UTILISATION BOUND — SUFFICIENT, NOT NECESSARY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1A2A"/>
                </a:solidFill>
                <a:latin typeface="Calibri"/>
              </a:defRPr>
            </a:pPr>
            <a:r>
              <a:t>Liu &amp; Layland (1973)  —  U ≤ n(2¹/ⁿ − 1)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2103120"/>
            <a:ext cx="2377440" cy="777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1488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n =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23317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Bound = 4·(2¹/⁴ − 1)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5786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78D4"/>
                </a:solidFill>
                <a:latin typeface="Calibri"/>
              </a:defRPr>
            </a:pPr>
            <a:r>
              <a:t>= 0.757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9720" y="2103120"/>
            <a:ext cx="23774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1160" y="21488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E63E33"/>
                </a:solidFill>
                <a:latin typeface="Calibri"/>
              </a:defRPr>
            </a:pPr>
            <a:r>
              <a:t>Actual  U = 0.947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23317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E63E33"/>
                </a:solidFill>
                <a:latin typeface="Calibri"/>
              </a:defRPr>
            </a:pPr>
            <a:r>
              <a:t>U  &gt;  Bound  (0.947 &gt; 0.757)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257860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63E33"/>
                </a:solidFill>
                <a:latin typeface="Calibri"/>
              </a:defRPr>
            </a:pPr>
            <a:r>
              <a:t>INCONCLUSIVE → RTA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3063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Bound is pessimistic: harmonic periods pass more often. RTA (next slide) is exact — iterate R = C + Σ ceil(R/Tₕ)·Cₕ until fixed point or deadline miss.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160520"/>
            <a:ext cx="11430000" cy="21488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4297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8A9BB8"/>
                </a:solidFill>
                <a:latin typeface="Calibri"/>
              </a:defRPr>
            </a:pPr>
            <a:r>
              <a:t>WHAT RTA ACTUALLY COMPUTES  —  exact response-time iteration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46177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mbria"/>
              </a:defRPr>
            </a:pPr>
            <a:r>
              <a:t>R_i⁰ = C_i        R_iᵏ⁺¹ = C_i + Σ_{h∈hp(i)} ceil(R_iᵏ / Tₕ) · Cₕ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50749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B8C0D8"/>
                </a:solidFill>
                <a:latin typeface="Calibri"/>
              </a:defRPr>
            </a:pPr>
            <a:r>
              <a:t>Stop when Rᵏ⁺¹ = Rᵏ (schedulable if ≤ D) or R &gt; D (miss). Each iteration adds interference from all higher-priority jobs that fit in the window.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4617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INTUITION: “How long am I delayed by everyone above me?”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493776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B8C0D8"/>
                </a:solidFill>
                <a:latin typeface="Calibri"/>
              </a:defRPr>
            </a:pPr>
            <a:r>
              <a:t>•  hp(i): higher-priority tasks</a:t>
            </a:r>
            <a:br/>
            <a:r>
              <a:t>•  ceil(R/Tₕ): how many jobs of h interfere</a:t>
            </a:r>
            <a:br/>
            <a:r>
              <a:t>•  Converges in ≤ D steps → pseudo-polynomial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99999"/>
                </a:solidFill>
                <a:latin typeface="Calibri"/>
              </a:defRPr>
            </a:pPr>
            <a: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03 — RESPONSE-TIME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A"/>
                </a:solidFill>
                <a:latin typeface="Calibri"/>
              </a:defRPr>
            </a:pPr>
            <a:r>
              <a:t>RM: three pass, one fails at 41 &gt;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A6A"/>
                </a:solidFill>
                <a:latin typeface="Calibri"/>
              </a:defRPr>
            </a:pPr>
            <a:r>
              <a:t>bonus/rta/rta_solver.py  •  y is baseline (U8g2) but here y is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4206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RTA ITERATION — FIXED-POINT TRACES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3749039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91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69164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6916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≤ 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965960"/>
            <a:ext cx="3749039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6596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τ_b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965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5A5A6A"/>
                </a:solidFill>
                <a:latin typeface="Calibri"/>
              </a:defRPr>
            </a:pPr>
            <a:r>
              <a:t>1: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1965960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09B5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96596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109B5E"/>
                </a:solidFill>
                <a:latin typeface="Calibri"/>
              </a:defRPr>
            </a:pPr>
            <a:r>
              <a:t>✓ 2 ≤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276856"/>
            <a:ext cx="3749039" cy="29260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2768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τ_c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276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5A5A6A"/>
                </a:solidFill>
                <a:latin typeface="Calibri"/>
              </a:defRPr>
            </a:pPr>
            <a:r>
              <a:t>2: 5 →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276856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09B5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227685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109B5E"/>
                </a:solidFill>
                <a:latin typeface="Calibri"/>
              </a:defRPr>
            </a:pPr>
            <a:r>
              <a:t>✓ 5 ≤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587751"/>
            <a:ext cx="3749039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58775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τ_d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58775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5A5A6A"/>
                </a:solidFill>
                <a:latin typeface="Calibri"/>
              </a:defRPr>
            </a:pPr>
            <a:r>
              <a:t>3: 4→9→14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2587751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09B5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587751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109B5E"/>
                </a:solidFill>
                <a:latin typeface="Calibri"/>
              </a:defRPr>
            </a:pPr>
            <a:r>
              <a:t>✓ 14 ≤ 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2898647"/>
            <a:ext cx="3749039" cy="29260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898647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τ_a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289864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5A5A6A"/>
                </a:solidFill>
                <a:latin typeface="Calibri"/>
              </a:defRPr>
            </a:pPr>
            <a:r>
              <a:t>4: 7→14→27→34→41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2898647"/>
            <a:ext cx="594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63E33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2898647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E63E33"/>
                </a:solidFill>
                <a:latin typeface="Calibri"/>
              </a:defRPr>
            </a:pPr>
            <a:r>
              <a:t>✗ 41 &gt; 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273552"/>
            <a:ext cx="37490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>
                <a:solidFill>
                  <a:srgbClr val="5A5A6A"/>
                </a:solidFill>
                <a:latin typeface="Calibri"/>
              </a:defRPr>
            </a:pPr>
            <a:r>
              <a:t>τ_d example: R⁰=4 → R¹=4+ceil(4/8)·2+ceil(4/10)·3=9 → R²=4+ceil(9/8)·2+ceil(9/10)·3=14 stable.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650" b="0" i="0">
                <a:solidFill>
                  <a:srgbClr val="5A5A6A"/>
                </a:solidFill>
                <a:latin typeface="Calibri"/>
              </a:defRPr>
            </a:pPr>
            <a:r>
              <a:t>τ_a: 7→14→27→34→41 crosses D=40 on iteration 4 — RM cannot schedule the full set. σ = interferences from b,c,d stacking.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650" b="1" i="0">
                <a:solidFill>
                  <a:srgbClr val="1A1A2A"/>
                </a:solidFill>
                <a:latin typeface="Calibri"/>
              </a:defRPr>
            </a:pPr>
            <a:r>
              <a:t>Exact, not just sufficient. This is why the bloated player isolates Audio (prio 3, core 0).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1234440"/>
            <a:ext cx="6995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1371600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GANTT — PREEMPTIVE RM OVER [0,40)  (bonus/rta/schedule_sim.py → RMSim)</a:t>
            </a:r>
          </a:p>
        </p:txBody>
      </p:sp>
      <p:pic>
        <p:nvPicPr>
          <p:cNvPr id="36" name="Picture 35" descr="gantt_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91640"/>
            <a:ext cx="6537960" cy="141732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029200" y="3246120"/>
            <a:ext cx="6537960" cy="8686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3291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5A5A6A"/>
                </a:solidFill>
                <a:latin typeface="Calibri"/>
              </a:defRPr>
            </a:pPr>
            <a:r>
              <a:t>C switches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A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59" y="3291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5A5A6A"/>
                </a:solidFill>
                <a:latin typeface="Calibri"/>
              </a:defRPr>
            </a:pPr>
            <a:r>
              <a:t>Slots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59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A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291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5A5A6A"/>
                </a:solidFill>
                <a:latin typeface="Calibri"/>
              </a:defRPr>
            </a:pPr>
            <a:r>
              <a:t>Idle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A"/>
                </a:solidFill>
                <a:latin typeface="Calibri"/>
              </a:defRPr>
            </a:pPr>
            <a:r>
              <a:t>0.7%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2918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5A5A6A"/>
                </a:solidFill>
                <a:latin typeface="Calibri"/>
              </a:defRPr>
            </a:pPr>
            <a:r>
              <a:t>Worst slack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A"/>
                </a:solidFill>
                <a:latin typeface="Calibri"/>
              </a:defRPr>
            </a:pPr>
            <a:r>
              <a:t>τ_d: 4 / 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160520"/>
            <a:ext cx="6537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5A5A6A"/>
                </a:solidFill>
                <a:latin typeface="Calibri"/>
              </a:defRPr>
            </a:pPr>
            <a:r>
              <a:t>Read: a only runs 14–16, 27–30, 35–36 — always preempted. Visual proof of R_i starvation.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00600"/>
            <a:ext cx="11430000" cy="1691640"/>
          </a:xfrm>
          <a:prstGeom prst="rect">
            <a:avLst/>
          </a:prstGeom>
          <a:solidFill>
            <a:srgbClr val="F2F4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9377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SO WHAT FOR THE PLAYER?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1663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A1A2A"/>
                </a:solidFill>
                <a:latin typeface="Calibri"/>
              </a:defRPr>
            </a:pPr>
            <a:r>
              <a:t>RM is optimal among fixed priorities, but this set defeats it. Options: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• Drop U (faster CPU, lighter WCET, longer periods) — not possible on ESP32-S3 at 240 MHz with Helix.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50" b="0" i="0">
                <a:solidFill>
                  <a:srgbClr val="5A5A6A"/>
                </a:solidFill>
                <a:latin typeface="Calibri"/>
              </a:defRPr>
            </a:pPr>
            <a:r>
              <a:t>• Switch to EDF (dynamic) — next slide.  • Partition cores: we already do (Audio core 0, UI core 1) — formal equivalent of reducing n per core.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166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5A5A6A"/>
                </a:solidFill>
                <a:latin typeface="Calibri"/>
              </a:defRPr>
            </a:pPr>
            <a:r>
              <a:t>“The Guide says: don’t panic.</a:t>
            </a:r>
            <a:br/>
            <a:r>
              <a:t>The analysis says: τ_a misses</a:t>
            </a:r>
            <a:br/>
            <a:r>
              <a:t>by 1. That’s as real as it gets.”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99999"/>
                </a:solidFill>
                <a:latin typeface="Calibri"/>
              </a:defRPr>
            </a:pPr>
            <a: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04 —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A"/>
                </a:solidFill>
                <a:latin typeface="Calibri"/>
              </a:defRPr>
            </a:pPr>
            <a:r>
              <a:t>RM vs EDF (preemptive) vs EDF (non-preemptive)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A6A"/>
                </a:solidFill>
                <a:latin typeface="Calibri"/>
              </a:defRPr>
            </a:pPr>
            <a:r>
              <a:t>Same tasks, same window [0,40) — only the rule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498079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7040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GANTTS — VISUAL COMPARISON (all to same scale)</a:t>
            </a:r>
          </a:p>
        </p:txBody>
      </p:sp>
      <p:pic>
        <p:nvPicPr>
          <p:cNvPr id="8" name="Picture 7" descr="gantt_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70408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468880"/>
            <a:ext cx="7040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5A5A6A"/>
                </a:solidFill>
                <a:latin typeface="Calibri"/>
              </a:defRPr>
            </a:pPr>
            <a:r>
              <a:t>↑ RM: fixed, period-rate — a starves</a:t>
            </a:r>
          </a:p>
        </p:txBody>
      </p:sp>
      <p:pic>
        <p:nvPicPr>
          <p:cNvPr id="10" name="Picture 9" descr="gantt_e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97480"/>
            <a:ext cx="7040880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566160"/>
            <a:ext cx="7040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109B5E"/>
                </a:solidFill>
                <a:latin typeface="Calibri"/>
              </a:defRPr>
            </a:pPr>
            <a:r>
              <a:t>↑ EDF preemptive: deadline-driven — a finishes at 32 (meets D=40!)</a:t>
            </a:r>
          </a:p>
        </p:txBody>
      </p:sp>
      <p:pic>
        <p:nvPicPr>
          <p:cNvPr id="12" name="Picture 11" descr="gantt_edf_n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67328"/>
            <a:ext cx="7040880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4636008"/>
            <a:ext cx="70408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 i="0">
                <a:solidFill>
                  <a:srgbClr val="5A5A6A"/>
                </a:solidFill>
                <a:latin typeface="Calibri"/>
              </a:defRPr>
            </a:pPr>
            <a:r>
              <a:t>↑ EDF non-preemptive: no preemption — a runs 14–21 (blocking) but no interleaving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370332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7160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NUMBERS — AT A GLANCE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691640"/>
            <a:ext cx="324612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16916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16916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Meets?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16916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965960"/>
            <a:ext cx="32461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96596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RM pre.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96596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196596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E63E33"/>
                </a:solidFill>
                <a:latin typeface="Calibri"/>
              </a:defRPr>
            </a:pPr>
            <a:r>
              <a:t>✗ a fails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1965960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A5A6A"/>
                </a:solidFill>
                <a:latin typeface="Calibri"/>
              </a:defRPr>
            </a:pPr>
            <a:r>
              <a:t>optimal FP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276856"/>
            <a:ext cx="3246120" cy="29260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276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EDF pre.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2768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227685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109B5E"/>
                </a:solidFill>
                <a:latin typeface="Calibri"/>
              </a:defRPr>
            </a:pPr>
            <a:r>
              <a:t>✓ all meet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227685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A5A6A"/>
                </a:solidFill>
                <a:latin typeface="Calibri"/>
              </a:defRPr>
            </a:pPr>
            <a:r>
              <a:t>dynamic, optimal*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2587751"/>
            <a:ext cx="32461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587751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EDF non-pre.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2587751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587751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5A5A6A"/>
                </a:solidFill>
                <a:latin typeface="Calibri"/>
              </a:defRPr>
            </a:pPr>
            <a:r>
              <a:t>✓ but frag.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2587751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0">
                <a:solidFill>
                  <a:srgbClr val="5A5A6A"/>
                </a:solidFill>
                <a:latin typeface="Calibri"/>
              </a:defRPr>
            </a:pPr>
            <a:r>
              <a:t>blocking 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97180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i="1">
                <a:solidFill>
                  <a:srgbClr val="5A5A6A"/>
                </a:solidFill>
                <a:latin typeface="Calibri"/>
              </a:defRPr>
            </a:pPr>
            <a:r>
              <a:t>EDF optimality*: on uniprocessor with D≤T, if any schedule meets all deadlines, EDF does. Here RM fails, EDF succeeds.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Non-preemptive reduces switches (12 vs 16) but inflates blocking — a must wait for b/c/d to finish (14–21). FreeRTOS is preemptive for a reason.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Player tie: Audio is soft-real-time (glitch = audible). Input/UI are firm. Preemptive EDF intuition justifies Audio prio 3 — it must preempt.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49240"/>
            <a:ext cx="11430000" cy="1143000"/>
          </a:xfrm>
          <a:prstGeom prst="rect">
            <a:avLst/>
          </a:prstGeom>
          <a:solidFill>
            <a:srgbClr val="F2F4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4864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BOTTOM 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1A1A2A"/>
                </a:solidFill>
                <a:latin typeface="Calibri"/>
              </a:defRPr>
            </a:pPr>
            <a:r>
              <a:t>Fixed priority loses here; dynamic wins. Next: what if tasks share resources? RM/EDF optimality evaporates without a blocking protocol.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99999"/>
                </a:solidFill>
                <a:latin typeface="Calibri"/>
              </a:defRPr>
            </a:pPr>
            <a: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05 — SHARED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A"/>
                </a:solidFill>
                <a:latin typeface="Calibri"/>
              </a:defRPr>
            </a:pPr>
            <a:r>
              <a:t>R1–R5: PIP vs PCP blocking (bonus/rta/blocking_times.py)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A6A"/>
                </a:solidFill>
                <a:latin typeface="Calibri"/>
              </a:defRPr>
            </a:pPr>
            <a:r>
              <a:t>One lock per resource · I²C/SPI/SDMMC are exactly these — priority inversion is not theoretical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CRITICAL-SECTION MATRIX — max CS per task per 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493776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642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16642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R2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4016" y="16642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16642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R4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16642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R5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6420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938528"/>
            <a:ext cx="49377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938528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τ_B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93852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193852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193852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44" y="193852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193852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193852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231136"/>
            <a:ext cx="4937760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23113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τ_C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22311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088" y="22311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14016" y="22311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22311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223113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2311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523744"/>
            <a:ext cx="49377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52374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τ_D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25237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7088" y="25237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E63E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14016" y="25237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25237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2523744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5237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2816351"/>
            <a:ext cx="4937760" cy="2743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2816351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A1A2A"/>
                </a:solidFill>
                <a:latin typeface="Calibri"/>
              </a:defRPr>
            </a:pPr>
            <a:r>
              <a:t>τ_A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2816351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E63E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47088" y="2816351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A1A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14016" y="2816351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2816351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47872" y="2816351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E63E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281635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31272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5A5A6A"/>
                </a:solidFill>
                <a:latin typeface="Calibri"/>
              </a:defRPr>
            </a:pPr>
            <a:r>
              <a:t>Read: τ_A holds R1 for 6 — longest. This drives PCP blocking for everyone else.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251960"/>
            <a:ext cx="5394960" cy="224028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4389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8A9BB8"/>
                </a:solidFill>
                <a:latin typeface="Calibri"/>
              </a:defRPr>
            </a:pPr>
            <a:r>
              <a:t>RESULT — B_i per protocol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4617720"/>
            <a:ext cx="4937760" cy="256032"/>
          </a:xfrm>
          <a:prstGeom prst="rect">
            <a:avLst/>
          </a:prstGeom>
          <a:solidFill>
            <a:srgbClr val="2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6177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4617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B_PIP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6177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B_PCP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6120" y="46177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Saving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882896"/>
            <a:ext cx="4937760" cy="274320"/>
          </a:xfrm>
          <a:prstGeom prst="rect">
            <a:avLst/>
          </a:prstGeom>
          <a:solidFill>
            <a:srgbClr val="2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48828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τ_B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7320" y="48828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FEC9C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20" y="48828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7BE8B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6120" y="48828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8A9BB8"/>
                </a:solidFill>
                <a:latin typeface="Calibri"/>
              </a:defRPr>
            </a:pPr>
            <a:r>
              <a:t>2.5×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5175504"/>
            <a:ext cx="4937760" cy="2743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51755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τ_C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17320" y="5175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FEC9C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31720" y="5175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7BE8B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6120" y="51755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8A9BB8"/>
                </a:solidFill>
                <a:latin typeface="Calibri"/>
              </a:defRPr>
            </a:pPr>
            <a:r>
              <a:t>1.7×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5468112"/>
            <a:ext cx="4937760" cy="274320"/>
          </a:xfrm>
          <a:prstGeom prst="rect">
            <a:avLst/>
          </a:prstGeom>
          <a:solidFill>
            <a:srgbClr val="24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5468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τ_D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17320" y="5468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FEC9C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1720" y="5468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7BE8B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46120" y="54681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8A9BB8"/>
                </a:solidFill>
                <a:latin typeface="Calibri"/>
              </a:defRPr>
            </a:pPr>
            <a:r>
              <a:t>no lower task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" y="5760720"/>
            <a:ext cx="4937760" cy="274320"/>
          </a:xfrm>
          <a:prstGeom prst="rect">
            <a:avLst/>
          </a:prstGeom>
          <a:solidFill>
            <a:srgbClr val="1E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5760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τ_A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1732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FEC9C9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3172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7BE8B0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4612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8A9BB8"/>
                </a:solidFill>
                <a:latin typeface="Calibri"/>
              </a:defRPr>
            </a:pPr>
            <a:r>
              <a:t>no lower task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" y="6035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B8C0D8"/>
                </a:solidFill>
                <a:latin typeface="Calibri"/>
              </a:defRPr>
            </a:pPr>
            <a:r>
              <a:t>PCP: B = max over resources (max lower CS).  PIP: B = sum over lower tasks (max per task). PCP ≤ PIP always.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989320" y="1234440"/>
            <a:ext cx="58064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1371600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WHY THIS MATTERS — INVERSION ON THE WIRE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0" y="1691640"/>
            <a:ext cx="53492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750">
                <a:solidFill>
                  <a:srgbClr val="333344"/>
                </a:solidFill>
                <a:latin typeface="Calibri"/>
              </a:defRPr>
            </a:pPr>
            <a:r>
              <a:t>Without a protocol: low-priority τ_A locks R1 (6 units), medium τ_D/τ_C spin, high τ_B starves — unbounded priority inversion.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50" b="0" i="0">
                <a:solidFill>
                  <a:srgbClr val="333344"/>
                </a:solidFill>
                <a:latin typeface="Calibri"/>
              </a:defRPr>
            </a:pPr>
            <a:r>
              <a:t>•  PIP: holder inherits blocked task’s priority → τ_A briefly becomes b-priority (2). But chained blocking sums: B_B = 2+4+4 = 10.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50" b="0" i="0">
                <a:solidFill>
                  <a:srgbClr val="333344"/>
                </a:solidFill>
                <a:latin typeface="Calibri"/>
              </a:defRPr>
            </a:pPr>
            <a:r>
              <a:t>•  PCP: ceiling per resource = highest priority that ever uses it. Lock only if priority &gt; all ceilings of locked resources. At most one block: B_B = max(4,3,4)=4.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50" b="0" i="0">
                <a:solidFill>
                  <a:srgbClr val="333344"/>
                </a:solidFill>
                <a:latin typeface="Calibri"/>
              </a:defRPr>
            </a:pPr>
            <a:r>
              <a:t>•  Result: PCP halves blocking (10→4, 10→6). τ_D ties because only τ_A can block it — single lower task, sum=max.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50" b="0" i="0">
                <a:solidFill>
                  <a:srgbClr val="333344"/>
                </a:solidFill>
                <a:latin typeface="Calibri"/>
              </a:defRPr>
            </a:pPr>
            <a:r>
              <a:t>•  Player mapping: R1/R2… are not abstract — I²C bus (AHT20/BMP280 + 2 LCDs), SPI (ST7565R + font ROM), SDMMC (FATFS). Firmware uses Wire.setTimeout(50 ms) + distinct tasks per bus to bound the same effect.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5166360"/>
            <a:ext cx="5349240" cy="889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7920" y="5303520"/>
            <a:ext cx="5349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1A1A2A"/>
                </a:solidFill>
                <a:latin typeface="Calibri"/>
              </a:defRPr>
            </a:pPr>
            <a:r>
              <a:t>With PIP/PCP, RTA + B:  R_i = C_i + B_i + Σ ceil(R_i/T_h)·C_h  — re-check slides 3–4 adding B_i.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τ_B with B_PCP=4 → R=2+4=6 ≤8 still OK; but τ_A’s B=0 — the miss was CPU, not lock. Blocking adds nuance, not the root cause here.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99999"/>
                </a:solidFill>
                <a:latin typeface="Calibri"/>
              </a:defRPr>
            </a:pPr>
            <a: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06 — EDF &amp;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A"/>
                </a:solidFill>
                <a:latin typeface="Calibri"/>
              </a:defRPr>
            </a:pPr>
            <a:r>
              <a:t>When RM needs a verdict, EDF needs a proof — and that proof can be exponential or clever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A5A6A"/>
                </a:solidFill>
                <a:latin typeface="Calibri"/>
              </a:defRPr>
            </a:pPr>
            <a:r>
              <a:t>Q5/Q6 from the workbook · bonus/rta/q5_edf_test.py + q6_pdc_complexity.py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Q5 — EDF: PROCESSOR DEMAND CRITERION (Baruah et al. 1990)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τ1 3/10  τ2 15/50/200  τ3 17/100/120  τ4 200/1000/2000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2"/>
            <a:ext cx="5303520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60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5A5A6A"/>
                </a:solidFill>
                <a:latin typeface="Calibri"/>
              </a:defRPr>
            </a:pPr>
            <a:r>
              <a:t>U = Σ C/T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762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A"/>
                </a:solidFill>
                <a:latin typeface="Calibri"/>
              </a:defRPr>
            </a:pPr>
            <a:r>
              <a:t>0.617  ≤ 1  ✓  necessary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29968"/>
            <a:ext cx="2286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0">
                <a:solidFill>
                  <a:srgbClr val="5A5A6A"/>
                </a:solidFill>
                <a:latin typeface="Calibri"/>
              </a:defRPr>
            </a:pPr>
            <a:r>
              <a:t>h(L) = Σ floor((L−D_i)/T_i+1)·C_i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76272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78D4"/>
                </a:solidFill>
                <a:latin typeface="Calibri"/>
              </a:defRPr>
            </a:pPr>
            <a:r>
              <a:t>h(L) ≤ L  ∀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50592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5A5A6A"/>
                </a:solidFill>
                <a:latin typeface="Calibri"/>
              </a:defRPr>
            </a:pPr>
            <a:r>
              <a:t>Need &amp; sufficient: check at every deadline point L = k·T_i + D_i up to H. Solver did 600 points up to H = lcm(10,200,120,2000)=6000 — all pass: schedulable under EDF.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364992"/>
            <a:ext cx="530352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649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h(L)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3649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L−h(L)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364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639312"/>
            <a:ext cx="53035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393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393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63931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09B5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6393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09B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95344"/>
            <a:ext cx="530352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953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8953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89534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09B5E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89534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09B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151376"/>
            <a:ext cx="5303520" cy="23774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1513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1000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1513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235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415137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09B5E"/>
                </a:solidFill>
                <a:latin typeface="Calibri"/>
              </a:defRPr>
            </a:pPr>
            <a:r>
              <a:t>765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15137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09B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407408"/>
            <a:ext cx="5303520" cy="23774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4074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6000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4074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5A5A6A"/>
                </a:solidFill>
                <a:latin typeface="Calibri"/>
              </a:defRPr>
            </a:pPr>
            <a:r>
              <a:t>~3680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440740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09B5E"/>
                </a:solidFill>
                <a:latin typeface="Calibri"/>
              </a:defRPr>
            </a:pPr>
            <a:r>
              <a:t>~2320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44074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09B5E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7091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1">
                <a:solidFill>
                  <a:srgbClr val="5A5A6A"/>
                </a:solidFill>
                <a:latin typeface="Calibri"/>
              </a:defRPr>
            </a:pPr>
            <a:r>
              <a:t>… plus 596 more points — all satisfied. See q5_edf_test.py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5074920"/>
            <a:ext cx="5303520" cy="123444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8A9BB8"/>
                </a:solidFill>
                <a:latin typeface="Calibri"/>
              </a:defRPr>
            </a:pPr>
            <a:r>
              <a:t>Q6 — THE CATCH: H EXPLODES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4406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EC9C9"/>
                </a:solidFill>
                <a:latin typeface="Calibri"/>
              </a:defRPr>
            </a:pPr>
            <a:r>
              <a:t>Naïve: 600 points to H=6000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650" b="0" i="0">
                <a:solidFill>
                  <a:srgbClr val="8A9BB8"/>
                </a:solidFill>
                <a:latin typeface="Calibri"/>
              </a:defRPr>
            </a:pPr>
            <a:r>
              <a:t>H grows exponentially (primes!).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544068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>
                <a:solidFill>
                  <a:srgbClr val="7BE8B0"/>
                </a:solidFill>
                <a:latin typeface="Calibri"/>
              </a:defRPr>
            </a:pPr>
            <a:r>
              <a:t>Smart: busy period L* = 10</a:t>
            </a:r>
          </a:p>
          <a:p>
            <a:pPr algn="l">
              <a:spcBef>
                <a:spcPts val="100"/>
              </a:spcBef>
              <a:spcAft>
                <a:spcPts val="200"/>
              </a:spcAft>
              <a:defRPr sz="650" b="0" i="0">
                <a:solidFill>
                  <a:srgbClr val="B8C0D8"/>
                </a:solidFill>
                <a:latin typeface="Calibri"/>
              </a:defRPr>
            </a:pPr>
            <a:r>
              <a:t>Only 1 point → 600× fewer.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97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B8C0D8"/>
                </a:solidFill>
                <a:latin typeface="Calibri"/>
              </a:defRPr>
            </a:pPr>
            <a:r>
              <a:t>Iteration: L⁰=ΣC  →  Lᵏ⁺¹=h(Lᵏ).  Pseudo-polynomial O(n·D_max/C_min) — polynomial in values, not bit-length.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1234440"/>
            <a:ext cx="53949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13716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0078D4"/>
                </a:solidFill>
                <a:latin typeface="Calibri"/>
              </a:defRPr>
            </a:pPr>
            <a:r>
              <a:t>WHAT WE’D TELL VOGONS — TAKEAWAYS FOR THE PLAYER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166420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1A1A2A"/>
                </a:solidFill>
                <a:latin typeface="Calibri"/>
              </a:defRPr>
            </a:pPr>
            <a:r>
              <a:t>Partition wins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8653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5A5A6A"/>
                </a:solidFill>
                <a:latin typeface="Calibri"/>
              </a:defRPr>
            </a:pPr>
            <a:r>
              <a:t>Core 0 = Audio (3) + Input (2)  •  Core 1 = UI/LED/Matrix/Serial/Vogon (1). Two uniprocessors &gt; one overloaded one. RTA per core is what matters.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2423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1A1A2A"/>
                </a:solidFill>
                <a:latin typeface="Calibri"/>
              </a:defRPr>
            </a:pPr>
            <a:r>
              <a:t>Prio = policy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26243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5A5A6A"/>
                </a:solidFill>
                <a:latin typeface="Calibri"/>
              </a:defRPr>
            </a:pPr>
            <a:r>
              <a:t>Audio prio 3 is our PCP in practice — I²S cannot wait. Input prio 2 avoids SD-open starvation. Rest 1 = best-effort. Matches RM intuition without being RM.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3182112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1A1A2A"/>
                </a:solidFill>
                <a:latin typeface="Calibri"/>
              </a:defRPr>
            </a:pPr>
            <a:r>
              <a:t>Bound → RTA → PDC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33832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5A5A6A"/>
                </a:solidFill>
                <a:latin typeface="Calibri"/>
              </a:defRPr>
            </a:pPr>
            <a:r>
              <a:t>Course flow: sufficient (U≤bound) → exact (RTA+R_B) → EDF (PDC). Our deck walks that ladder with real numbers.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3941063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1A1A2A"/>
                </a:solidFill>
                <a:latin typeface="Calibri"/>
              </a:defRPr>
            </a:pPr>
            <a:r>
              <a:t>Complexity is real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4142231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5A5A6A"/>
                </a:solidFill>
                <a:latin typeface="Calibri"/>
              </a:defRPr>
            </a:pPr>
            <a:r>
              <a:t>H=6000 → 600 checks; L*=10 → 1 check. On ESP32, analysis must be offline — runtime can’t afford exponential.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4700016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 i="0">
                <a:solidFill>
                  <a:srgbClr val="1A1A2A"/>
                </a:solidFill>
                <a:latin typeface="Calibri"/>
              </a:defRPr>
            </a:pPr>
            <a:r>
              <a:t>Don’t hand-wave stacks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4901183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5A5A6A"/>
                </a:solidFill>
                <a:latin typeface="Calibri"/>
              </a:defRPr>
            </a:pPr>
            <a:r>
              <a:t>16K Audio/Input came from real canary trips (_dtoa_r). Schedulability ≠ schedulable + stack overflow.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5532120"/>
            <a:ext cx="4937760" cy="889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9400" y="5669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 i="0">
                <a:solidFill>
                  <a:srgbClr val="5A5A6A"/>
                </a:solidFill>
                <a:latin typeface="Calibri"/>
              </a:defRPr>
            </a:pPr>
            <a:r>
              <a:t>Repro: bonus/rta/*.py  •  rebuild: bonus/rta/lenv/bin/python generate_presentation.py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6080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1">
                <a:solidFill>
                  <a:srgbClr val="0078D4"/>
                </a:solidFill>
                <a:latin typeface="Calibri"/>
              </a:defRPr>
            </a:pPr>
            <a:r>
              <a:t>So long, and thanks for all the fish.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999999"/>
                </a:solidFill>
                <a:latin typeface="Calibri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Bloated MP3 Player — RTES</dc:title>
  <dc:subject/>
  <dc:creator>Henry Letellier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